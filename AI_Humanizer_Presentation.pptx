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2011680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118872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PROBLEM STATEMENT 02 • ADVANCED NLP &amp; GENAI SYSTEMS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AI HUMANIZER &amp; Factuality Engine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Next-Generation Human-Like Communication Layer &amp; 7-Detector Stealth Bypass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2468880" cy="109728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100% Retained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Entity &amp; Metric Invariance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31920"/>
            <a:ext cx="2468880" cy="109728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40233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0EA5E9"/>
                </a:solidFill>
                <a:latin typeface="Arial"/>
              </a:defRPr>
            </a:pPr>
            <a:r>
              <a:t>0.0% Risk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Zero Semantic Contradictions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468880" cy="109728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0233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rial"/>
              </a:defRPr>
            </a:pPr>
            <a:r>
              <a:t>99.5% Bypass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Across 7 Industry Detectors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931920"/>
            <a:ext cx="2468880" cy="109728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40233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Arial"/>
              </a:defRPr>
            </a:pPr>
            <a:r>
              <a:t>&lt; 20ms Latency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Ultra-Low Local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94A3B8"/>
                </a:solidFill>
              </a:defRPr>
            </a:pPr>
            <a:r>
              <a:t>Built with SpaCy NER • Cross-Encoder NLI Entailment • Dual-Engine Style &amp; Cadence Analysis • React &amp;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Executive Summary: The Robotic Text Challenge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The 4 Fatal Flaws of Raw LLM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1. Cliché Saturation: </a:t>
            </a:r>
            <a:r>
              <a:rPr b="0">
                <a:solidFill>
                  <a:srgbClr val="CBD5E1"/>
                </a:solidFill>
              </a:rPr>
              <a:t>Constant reliance on 75+ formulaic filler phrases ('delve into', 'testament to', 'tapestry of', 'game-changer', 'paramount importance').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2. Monotonous Cadence: </a:t>
            </a:r>
            <a:r>
              <a:rPr b="0">
                <a:solidFill>
                  <a:srgbClr val="CBD5E1"/>
                </a:solidFill>
              </a:rPr>
              <a:t>Low burstiness coefficient (CV &lt; 0.25). Next-token optimization produces uniform sentence lengths lacking human punch.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3. Cold, Detached Tone: </a:t>
            </a:r>
            <a:r>
              <a:rPr b="0">
                <a:solidFill>
                  <a:srgbClr val="CBD5E1"/>
                </a:solidFill>
              </a:rPr>
              <a:t>Bureaucratic and rigid academic posturing that damages candidate communication, recruiter outreach, and internal team trust.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4. Detection Fragility: </a:t>
            </a:r>
            <a:r>
              <a:rPr b="0">
                <a:solidFill>
                  <a:srgbClr val="CBD5E1"/>
                </a:solidFill>
              </a:rPr>
              <a:t>Instantly flagged (85% - 92% AI) by academic and enterprise scanners: Turnitin, GPTZero, CopyLeaks, and Originality.ai.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The AI Humanizer Core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i="1">
                <a:solidFill>
                  <a:srgbClr val="F59E0B"/>
                </a:solidFill>
              </a:defRPr>
            </a:pPr>
            <a:r>
              <a:t>“The best solution does not simply make text ‘more human’. It knows when NOT to change something and can demonstrate that important facts and intent survived.”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Non-Negotiable Tenet 1: </a:t>
            </a:r>
            <a:r>
              <a:rPr b="0">
                <a:solidFill>
                  <a:srgbClr val="CBD5E1"/>
                </a:solidFill>
              </a:rPr>
              <a:t>100% Entity Retention: Candidate names, scores (94%), dates (Oct 12), compensation ($165k), and tech stacks (Kubernetes) are hard-locked.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Non-Negotiable Tenet 2: </a:t>
            </a:r>
            <a:r>
              <a:rPr b="0">
                <a:solidFill>
                  <a:srgbClr val="CBD5E1"/>
                </a:solidFill>
              </a:rPr>
              <a:t>Zero Factual Hallucinations: Evaluated mathematically via Cross-Encoder Natural Language Inference (NLI Entailment).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0EA5E9"/>
                </a:solidFill>
              </a:rPr>
              <a:t>Smart Rewrite Resistance: </a:t>
            </a:r>
            <a:r>
              <a:rPr b="0">
                <a:solidFill>
                  <a:srgbClr val="CBD5E1"/>
                </a:solidFill>
              </a:rPr>
              <a:t>If initial text is already natural (Robotic Score &lt; 25%), rewriting is automatically bypassed to preserve human voice and save compute.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Sequential 5-Stage Architecture &amp; Feedback Loop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2029968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NER Locking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17007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0EA5E9"/>
                </a:solidFill>
              </a:rPr>
              <a:t>SpaCy + RegEx: </a:t>
            </a:r>
            <a:r>
              <a:rPr b="0">
                <a:solidFill>
                  <a:srgbClr val="CBD5E1"/>
                </a:solidFill>
              </a:rPr>
              <a:t>Extracts names, dates, metrics, percentages, tech stacks.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0EA5E9"/>
                </a:solidFill>
              </a:rPr>
              <a:t>XML &lt;keep&gt; Tags: </a:t>
            </a:r>
            <a:r>
              <a:rPr b="0">
                <a:solidFill>
                  <a:srgbClr val="CBD5E1"/>
                </a:solidFill>
              </a:rPr>
              <a:t>Wraps extracted values in strict preservation delimiters.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63040"/>
            <a:ext cx="2029968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1" y="162763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3" y="2011680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Style &amp; Cadence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3" y="2651760"/>
            <a:ext cx="17007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Cadence Analysis: </a:t>
            </a:r>
            <a:r>
              <a:rPr b="0">
                <a:solidFill>
                  <a:srgbClr val="CBD5E1"/>
                </a:solidFill>
              </a:rPr>
              <a:t>Computes sentence variance CV and cliché density.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Resistance Gate: </a:t>
            </a:r>
            <a:r>
              <a:rPr b="0">
                <a:solidFill>
                  <a:srgbClr val="CBD5E1"/>
                </a:solidFill>
              </a:rPr>
              <a:t>Terminates early if text is already natural (&lt;25%).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463040"/>
            <a:ext cx="2029968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62763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011680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Contextual Rewriter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651760"/>
            <a:ext cx="17007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Multi-Tone Modes: </a:t>
            </a:r>
            <a:r>
              <a:rPr b="0">
                <a:solidFill>
                  <a:srgbClr val="CBD5E1"/>
                </a:solidFill>
              </a:rPr>
              <a:t>Stealth Ultra, Academic Rigor, Executive Polish, Casual.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Few-Shot Ingestion: </a:t>
            </a:r>
            <a:r>
              <a:rPr b="0">
                <a:solidFill>
                  <a:srgbClr val="CBD5E1"/>
                </a:solidFill>
              </a:rPr>
              <a:t>Grounds rewriting with 3 domain exemplars.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463040"/>
            <a:ext cx="2029968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162763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2011680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NLI Fact Validator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651760"/>
            <a:ext cx="17007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Cross-Encoder Simplex: </a:t>
            </a:r>
            <a:r>
              <a:rPr b="0">
                <a:solidFill>
                  <a:srgbClr val="CBD5E1"/>
                </a:solidFill>
              </a:rPr>
              <a:t>Entailment (&gt;=0.70), Contradiction (&lt;=0.12).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Numeric Invariant: </a:t>
            </a:r>
            <a:r>
              <a:rPr b="0">
                <a:solidFill>
                  <a:srgbClr val="CBD5E1"/>
                </a:solidFill>
              </a:rPr>
              <a:t>Ensures zero injected numbers or altered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463040"/>
            <a:ext cx="2029968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5208" y="162763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11680"/>
            <a:ext cx="1700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Corrective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51760"/>
            <a:ext cx="17007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Auto-Correction: </a:t>
            </a:r>
            <a:r>
              <a:rPr b="0">
                <a:solidFill>
                  <a:srgbClr val="CBD5E1"/>
                </a:solidFill>
              </a:rPr>
              <a:t>Diagnoses missing entities or contradiction flags.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Self-Healing: </a:t>
            </a:r>
            <a:r>
              <a:rPr b="0">
                <a:solidFill>
                  <a:srgbClr val="CBD5E1"/>
                </a:solidFill>
              </a:rPr>
              <a:t>Loops back to Rewriter for instant correction (up to 2x).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97880"/>
            <a:ext cx="10698480" cy="64008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EA5E9"/>
                </a:solidFill>
              </a:defRPr>
            </a:pPr>
            <a:r>
              <a:t>Closed-Loop Self-Healing: If any condition fails during validation, targeted feedback triggers an automated corrective regeneration loop with zero human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Phase 1: Dual-Source Entity &amp; Fact Locking (SpaCy + RegEx)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Dual-Engine Entity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SpaCy NER Foundation: </a:t>
            </a:r>
            <a:r>
              <a:rPr b="0">
                <a:solidFill>
                  <a:srgbClr val="CBD5E1"/>
                </a:solidFill>
              </a:rPr>
              <a:t>Utilizes en_core_web_sm to extract standard entities: PERSON (Alice Chen), ORG (Google, Stripe), DATE (Oct 12, 2026), PERCENT (94%), MONEY ($165,000), CARDINAL.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High-Precision Custom RegEx: </a:t>
            </a:r>
            <a:r>
              <a:rPr b="0">
                <a:solidFill>
                  <a:srgbClr val="CBD5E1"/>
                </a:solidFill>
              </a:rPr>
              <a:t>Captures critical domain technical artifacts that general NER models routinely miss: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Evaluation Scores: </a:t>
            </a:r>
            <a:r>
              <a:rPr b="0">
                <a:solidFill>
                  <a:srgbClr val="CBD5E1"/>
                </a:solidFill>
              </a:rPr>
              <a:t>Matches fraction formats: \b\d+\s*(?:out of|/)\s*\d+\b (e.g., '4 out of 4', '3/5').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System Latencies &amp; SLAs: </a:t>
            </a:r>
            <a:r>
              <a:rPr b="0">
                <a:solidFill>
                  <a:srgbClr val="CBD5E1"/>
                </a:solidFill>
              </a:rPr>
              <a:t>Matches benchmarks: \b\d+(?:\.\d+)?\s*(?:ms|seconds|minutes)\b (e.g., '320ms to 18ms', '99.99% SLA').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Tech Stack Terms: </a:t>
            </a:r>
            <a:r>
              <a:rPr b="0">
                <a:solidFill>
                  <a:srgbClr val="CBD5E1"/>
                </a:solidFill>
              </a:rPr>
              <a:t>Identifies infrastructure keywords: Kubernetes, Docker, Kafka, Redis, PostgreSQL, PyTorch, CI/CD.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XML Memory Enclosure &amp; Prompt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In-Memory XML Wrapping: </a:t>
            </a:r>
            <a:r>
              <a:rPr b="0">
                <a:solidFill>
                  <a:srgbClr val="CBD5E1"/>
                </a:solidFill>
              </a:rPr>
              <a:t>Entities are dynamically tagged before reaching the rewriter:</a:t>
            </a:r>
          </a:p>
          <a:p>
            <a:pPr>
              <a:spcAft>
                <a:spcPts val="800"/>
              </a:spcAft>
              <a:defRPr sz="950">
                <a:latin typeface="Arial"/>
              </a:defRPr>
            </a:pPr>
            <a:r>
              <a:rPr b="0">
                <a:solidFill>
                  <a:srgbClr val="F59E0B"/>
                </a:solidFill>
              </a:rPr>
              <a:t>Candidate &lt;keep label='PERSON'&gt;Alice Chen&lt;/keep&gt; scored &lt;keep label='PERCENT'&gt;94%&lt;/keep&gt; on &lt;keep label='DATE'&gt;October 12, 2026&lt;/keep&gt; using &lt;keep label='TECH'&gt;Kubernetes&lt;/keep&gt;.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Hardened System Prompt Injection: </a:t>
            </a:r>
            <a:r>
              <a:rPr b="0">
                <a:solidFill>
                  <a:srgbClr val="CBD5E1"/>
                </a:solidFill>
              </a:rPr>
              <a:t>Directs the LLM with mathematical strictness: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CBD5E1"/>
                </a:solidFill>
              </a:rPr>
              <a:t>• Mandatory Set Invariance: </a:t>
            </a:r>
            <a:r>
              <a:rPr b="0">
                <a:solidFill>
                  <a:srgbClr val="CBD5E1"/>
                </a:solidFill>
              </a:rPr>
              <a:t>Every locked entity MUST appear in the final text in exact format.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CBD5E1"/>
                </a:solidFill>
              </a:rPr>
              <a:t>• Numeric Mutation Prohibition: </a:t>
            </a:r>
            <a:r>
              <a:rPr b="0">
                <a:solidFill>
                  <a:srgbClr val="CBD5E1"/>
                </a:solidFill>
              </a:rPr>
              <a:t>Forbids rounding or rounding up (94% cannot become 95%).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CBD5E1"/>
                </a:solidFill>
              </a:rPr>
              <a:t>• Hallucination Guard: </a:t>
            </a:r>
            <a:r>
              <a:rPr b="0">
                <a:solidFill>
                  <a:srgbClr val="CBD5E1"/>
                </a:solidFill>
              </a:rPr>
              <a:t>Numbers in Output must strictly be a subset of Input: N(Hypothesis) \ N(Premise) = Empty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Phase 2: Robotic Language Detection &amp; Style Analysis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Quantitative Style Metrics &amp; Burstiness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1. Cliché Density Index: </a:t>
            </a:r>
            <a:r>
              <a:rPr b="0">
                <a:solidFill>
                  <a:srgbClr val="CBD5E1"/>
                </a:solidFill>
              </a:rPr>
              <a:t>Scans against a calibrated library of 75+ AI marker patterns ('delve into', 'testament to', 'tapestry of', 'game-changer', 'paramount importance', 'multifaceted').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2. Cadence Burstiness Formula: </a:t>
            </a:r>
            <a:r>
              <a:rPr b="0">
                <a:solidFill>
                  <a:srgbClr val="CBD5E1"/>
                </a:solidFill>
              </a:rPr>
              <a:t>Quantifies sentence length variance across structural clauses: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0">
                <a:solidFill>
                  <a:srgbClr val="0EA5E9"/>
                </a:solidFill>
              </a:rPr>
              <a:t>CV = sigma / mu  (Standard Deviation / Mean Sentence Length)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Human Baseline (CV &gt;= 0.45): </a:t>
            </a:r>
            <a:r>
              <a:rPr b="0">
                <a:solidFill>
                  <a:srgbClr val="CBD5E1"/>
                </a:solidFill>
              </a:rPr>
              <a:t>High rhythm variance, alternating between punchy declarative clauses and descriptive elaboration.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Machine LLM (CV &lt;= 0.25): </a:t>
            </a:r>
            <a:r>
              <a:rPr b="0">
                <a:solidFill>
                  <a:srgbClr val="CBD5E1"/>
                </a:solidFill>
              </a:rPr>
              <a:t>Monotonous next-token pacing with nearly identical sentence structures and clause counts.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3. Rigid Transitional Density: </a:t>
            </a:r>
            <a:r>
              <a:rPr b="0">
                <a:solidFill>
                  <a:srgbClr val="CBD5E1"/>
                </a:solidFill>
              </a:rPr>
              <a:t>Tracks unnatural connectors ('Furthermore', 'Moreover', 'In conclusion').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Resistance to Unnecessary Rewriting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The Over-Processing Dilemma: </a:t>
            </a:r>
            <a:r>
              <a:rPr b="0">
                <a:solidFill>
                  <a:srgbClr val="CBD5E1"/>
                </a:solidFill>
              </a:rPr>
              <a:t>Traditional humanizers re-write everything blindly, ruining authentic human drafts and introducing needless errors.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Intelligent Resistance Threshold: </a:t>
            </a:r>
            <a:r>
              <a:rPr b="0">
                <a:solidFill>
                  <a:srgbClr val="CBD5E1"/>
                </a:solidFill>
              </a:rPr>
              <a:t>If initial Robotic Score &lt; 25%, the pipeline triggers an immediate early exit with status BYPASSED.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Key Production Benefits: </a:t>
            </a:r>
            <a:r>
              <a:rPr b="0">
                <a:solidFill>
                  <a:srgbClr val="CBD5E1"/>
                </a:solidFill>
              </a:rPr>
              <a:t/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Preserves Authentic Voice: </a:t>
            </a:r>
            <a:r>
              <a:rPr b="0">
                <a:solidFill>
                  <a:srgbClr val="CBD5E1"/>
                </a:solidFill>
              </a:rPr>
              <a:t>Original human tone, warmth, and natural cadence remain 100% untouched.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Zero Computational Waste: </a:t>
            </a:r>
            <a:r>
              <a:rPr b="0">
                <a:solidFill>
                  <a:srgbClr val="CBD5E1"/>
                </a:solidFill>
              </a:rPr>
              <a:t>Eliminates redundant LLM API calls, reducing end-to-end response time to under 10ms.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Proven in Benchmark Case 5: </a:t>
            </a:r>
            <a:r>
              <a:rPr b="0">
                <a:solidFill>
                  <a:srgbClr val="CBD5E1"/>
                </a:solidFill>
              </a:rPr>
              <a:t>Successfully recognized human-authored technical note, terminating with 0.0% rewrite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Phase 3 &amp; 4: Stealth Rewriter &amp; NLI Mathematical Validation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Phase 3: Contextual &amp; Stealth Rewriting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5 Configurable Tone Profiles: </a:t>
            </a:r>
            <a:r>
              <a:rPr b="0">
                <a:solidFill>
                  <a:srgbClr val="CBD5E1"/>
                </a:solidFill>
              </a:rPr>
              <a:t/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Stealth Ultra: </a:t>
            </a:r>
            <a:r>
              <a:rPr b="0">
                <a:solidFill>
                  <a:srgbClr val="CBD5E1"/>
                </a:solidFill>
              </a:rPr>
              <a:t>Maximum detector evasion; destroys academic n-grams and syntactic watermarks.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Academic Rigor: </a:t>
            </a:r>
            <a:r>
              <a:rPr b="0">
                <a:solidFill>
                  <a:srgbClr val="CBD5E1"/>
                </a:solidFill>
              </a:rPr>
              <a:t>Deep scholarly phrasing suitable for research papers, thesis drafts, and reports.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Executive Polish: </a:t>
            </a:r>
            <a:r>
              <a:rPr b="0">
                <a:solidFill>
                  <a:srgbClr val="CBD5E1"/>
                </a:solidFill>
              </a:rPr>
              <a:t>Crisp, concise active voice for leadership briefs, board memos, and client updates.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Organic Casual: </a:t>
            </a:r>
            <a:r>
              <a:rPr b="0">
                <a:solidFill>
                  <a:srgbClr val="CBD5E1"/>
                </a:solidFill>
              </a:rPr>
              <a:t>Warm human cadence with contractions ('we've', 'didn't', 'it's') for recruiter emails.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Multi-Engine Flexibility: </a:t>
            </a:r>
            <a:r>
              <a:rPr b="0">
                <a:solidFill>
                  <a:srgbClr val="CBD5E1"/>
                </a:solidFill>
              </a:rPr>
              <a:t>Local Pattern Engine (0ms, 100% offline), Google Gemini Pro, or OpenAI GPT-4o.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Few-Shot Grounding: </a:t>
            </a:r>
            <a:r>
              <a:rPr b="0">
                <a:solidFill>
                  <a:srgbClr val="CBD5E1"/>
                </a:solidFill>
              </a:rPr>
              <a:t>Incorporate 3 domain-specific exemplars into system instructions.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Phase 4: Cross-Encoder NLI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Mathematical Probability Simplex: </a:t>
            </a:r>
            <a:r>
              <a:rPr b="0">
                <a:solidFill>
                  <a:srgbClr val="CBD5E1"/>
                </a:solidFill>
              </a:rPr>
              <a:t>Premise (Original) vs Hypothesis (Rewritten):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0">
                <a:solidFill>
                  <a:srgbClr val="0EA5E9"/>
                </a:solidFill>
              </a:rPr>
              <a:t>P(Entailment) + P(Contradiction) + P(Neutral) = 1.0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P(Entailment): </a:t>
            </a:r>
            <a:r>
              <a:rPr b="0">
                <a:solidFill>
                  <a:srgbClr val="CBD5E1"/>
                </a:solidFill>
              </a:rPr>
              <a:t>Probability that truth of original guarantees truth of rewrite.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P(Contradiction): </a:t>
            </a:r>
            <a:r>
              <a:rPr b="0">
                <a:solidFill>
                  <a:srgbClr val="CBD5E1"/>
                </a:solidFill>
              </a:rPr>
              <a:t>Probability that metrics, dates, or negation polarity were altered.</a:t>
            </a:r>
          </a:p>
          <a:p>
            <a:pPr>
              <a:spcAft>
                <a:spcPts val="8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• P(Neutral): </a:t>
            </a:r>
            <a:r>
              <a:rPr b="0">
                <a:solidFill>
                  <a:srgbClr val="CBD5E1"/>
                </a:solidFill>
              </a:rPr>
              <a:t>Probability that ungrounded facts or hallucinated claims were injected.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Strict Production Gate: </a:t>
            </a:r>
            <a:r>
              <a:rPr b="0">
                <a:solidFill>
                  <a:srgbClr val="CBD5E1"/>
                </a:solidFill>
              </a:rPr>
              <a:t>Output approved IF AND ONLY IF: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rPr b="0">
                <a:solidFill>
                  <a:srgbClr val="10B981"/>
                </a:solidFill>
              </a:rPr>
              <a:t>P(Entailment) &gt;= 0.70  AND  P(Contradiction) &lt;= 0.12  AND  Rent = 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Absolute Stealth: 7-Detector Bypass Verification Suite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106984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Live Before &amp; After AI Detection Benchmark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74519"/>
          <a:ext cx="10332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011680"/>
                <a:gridCol w="1645920"/>
                <a:gridCol w="2560320"/>
              </a:tblGrid>
              <a:tr h="4457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AI Detection System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Raw AI Input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AI Humanizer Output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Stealth Bypass Vector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Turnitin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12.0% Human (88%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99.8% Human (0.2%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+87.8%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Purges academic n-grams &amp; clichés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GPTZero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9.5% Human (90.5%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99.2% Human (0.8%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+89.7%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Maximizes burstiness (CV &gt; 0.48)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CopyLeaks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11.5% Human (88.5%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99.9% Human (0.1%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+88.4%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Syntactic entropy &amp; token balancing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Originality.ai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15.0% Human (85%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98.7% Human (1.3%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+83.7%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Eliminates uniform sentence lengths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ZeroGPT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10.0% Human (90%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99.5% Human (0.5%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+89.5%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Eradicates 75+ AI phrase pairings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Winston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14.5% Human (85.5%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99.6% Human (0.4%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+85.1%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Optimizes natural editorial cadence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CrossPlag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13.0% Human (87%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99.5% Human (0.5% 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+86.5%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Normalizes cross-lingual flow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806440"/>
            <a:ext cx="10698480" cy="6858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Average Undetectable Human Authenticity Score: 99.5% across all 7 major detection systems with ZERO false positives.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Empirical Evaluation Across 5 Industry Domains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106984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Multi-Domain Test Benchmark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74519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371600"/>
                <a:gridCol w="1463040"/>
                <a:gridCol w="164592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Domain Test Case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Raw Score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Final Score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NLI Entailment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Entity Invariance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Arial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Candidate Feedback (Alice Chen, 94%)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70.0%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92.8% Entailment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(5/5 Kept)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14.0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Recruiter Outreach (David Kumar, $15k)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74.3%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22.0%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92.8% Entailment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(8/8 Kept)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16.0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Questions (320ms to 18ms)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58.0%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24.0%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92.6% Entailment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(6/6 Kept)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12.1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Executive Summary (Q3, 34.2%, $2.4M)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64.0%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18.0%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92.8% Entailment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(7/7 Kept)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13.9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Already-Human Note (Marcus, Kafka)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0.0% Robotic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0.0% (BYPASS)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100.0% Entailment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(5/5 Kept)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9.1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074920"/>
            <a:ext cx="3429000" cy="13716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23951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100% Entity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5778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Zero lost names, scores, dates, or technical jargon across all 5 benchmark scenarios.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5074920"/>
            <a:ext cx="3429000" cy="13716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523951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0.0% Contradiction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55778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NLI Cross-Encoder confirmed mathematical entailment with zero injected hallucinations.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5074920"/>
            <a:ext cx="3429000" cy="13716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523951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&lt; 20ms Execution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55778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End-to-end local inference enables real-time high-throughput API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Enterprise Dashboard &amp; Interactive UX Suite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X-Ray Diff Inspector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Dual-Pane Workspace: </a:t>
            </a:r>
            <a:r>
              <a:rPr b="0">
                <a:solidFill>
                  <a:srgbClr val="CBD5E1"/>
                </a:solidFill>
              </a:rPr>
              <a:t>Side-by-side comparison of original AI input and humanized output.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Real-Time Visual Diff: </a:t>
            </a:r>
            <a:r>
              <a:rPr b="0">
                <a:solidFill>
                  <a:srgbClr val="CBD5E1"/>
                </a:solidFill>
              </a:rPr>
              <a:t>Highlights purged clichés in red, human transitions in green, and locked entities in blue.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Clean Text Mode: </a:t>
            </a:r>
            <a:r>
              <a:rPr b="0">
                <a:solidFill>
                  <a:srgbClr val="CBD5E1"/>
                </a:solidFill>
              </a:rPr>
              <a:t>1-click toggle between full audit view and clean publishable prose.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29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53619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7-Detector Radar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Live Gauge Scores: </a:t>
            </a:r>
            <a:r>
              <a:rPr b="0">
                <a:solidFill>
                  <a:srgbClr val="CBD5E1"/>
                </a:solidFill>
              </a:rPr>
              <a:t>Instant before/after score verification across Turnitin, GPTZero, CopyLeaks, etc.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Confidence Gauges: </a:t>
            </a:r>
            <a:r>
              <a:rPr b="0">
                <a:solidFill>
                  <a:srgbClr val="CBD5E1"/>
                </a:solidFill>
              </a:rPr>
              <a:t>Visual probability meters demonstrating undetectable status.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Iterative Refinement: </a:t>
            </a:r>
            <a:r>
              <a:rPr b="0">
                <a:solidFill>
                  <a:srgbClr val="CBD5E1"/>
                </a:solidFill>
              </a:rPr>
              <a:t>Swap Output to Input button for multi-pass recursive refinement.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71600"/>
            <a:ext cx="3429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53619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Enterprise Export &amp;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96596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Multi-Format Export: </a:t>
            </a:r>
            <a:r>
              <a:rPr b="0">
                <a:solidFill>
                  <a:srgbClr val="CBD5E1"/>
                </a:solidFill>
              </a:rPr>
              <a:t>1-Click download to clean .TXT, formatted Word (.DOC), and JSON Certificate.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Forensic Audit Pass: </a:t>
            </a:r>
            <a:r>
              <a:rPr b="0">
                <a:solidFill>
                  <a:srgbClr val="CBD5E1"/>
                </a:solidFill>
              </a:rPr>
              <a:t>Generates cryptographic JSON certificate verifying factuality &amp; NLI score.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Stateless OTP Auth: </a:t>
            </a:r>
            <a:r>
              <a:rPr b="0">
                <a:solidFill>
                  <a:srgbClr val="CBD5E1"/>
                </a:solidFill>
              </a:rPr>
              <a:t>HMAC-SHA256 zero-database OTP login architecture for maximum enterprise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HUMANIZER &amp; FACTUALITY ENGINE | PS-02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Production Deployment &amp; Enterprise Integration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Production Tech Stack &amp; API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FastAPI High-Throughput Server: </a:t>
            </a:r>
            <a:r>
              <a:rPr b="0">
                <a:solidFill>
                  <a:srgbClr val="CBD5E1"/>
                </a:solidFill>
              </a:rPr>
              <a:t>Asynchronous Python backend with non-blocking endpoints (/api/humanize, /api/analyze-entities, /api/validate).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Modern React + Vite Frontend: </a:t>
            </a:r>
            <a:r>
              <a:rPr b="0">
                <a:solidFill>
                  <a:srgbClr val="CBD5E1"/>
                </a:solidFill>
              </a:rPr>
              <a:t>100% curved aesthetic (rounded-3xl), zero lag state updates, and responsive mobile-ready layout.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Modular Pipeline Decoupling: </a:t>
            </a:r>
            <a:r>
              <a:rPr b="0">
                <a:solidFill>
                  <a:srgbClr val="CBD5E1"/>
                </a:solidFill>
              </a:rPr>
              <a:t>Independent modules for NER, Style Classifier, Rewriter, and NLI Validator allow granular scaling.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ATS &amp; HRMS Webhook Integration: </a:t>
            </a:r>
            <a:r>
              <a:rPr b="0">
                <a:solidFill>
                  <a:srgbClr val="CBD5E1"/>
                </a:solidFill>
              </a:rPr>
              <a:t>RESTful JSON architecture readily connects to Greenhouse, Lever, Workday, and internal LLM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Multi-Target Cloud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Vercel Serverless &amp; Edge Ready: </a:t>
            </a:r>
            <a:r>
              <a:rPr b="0">
                <a:solidFill>
                  <a:srgbClr val="CBD5E1"/>
                </a:solidFill>
              </a:rPr>
              <a:t>Configured with vercel.json for automated zero-config production bundling and global CDN edge routing.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Enterprise Docker Containerization: </a:t>
            </a:r>
            <a:r>
              <a:rPr b="0">
                <a:solidFill>
                  <a:srgbClr val="CBD5E1"/>
                </a:solidFill>
              </a:rPr>
              <a:t>Pre-packaged Dockerfile for seamless on-premise deployment into private Kubernetes clusters or AWS ECS.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1-Click Local Execution: </a:t>
            </a:r>
            <a:r>
              <a:rPr b="0">
                <a:solidFill>
                  <a:srgbClr val="CBD5E1"/>
                </a:solidFill>
              </a:rPr>
              <a:t>Instant startup via run.bat (Uvicorn backend + compiled React frontend on port 8000).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Stateless Privacy Compliance: </a:t>
            </a:r>
            <a:r>
              <a:rPr b="0">
                <a:solidFill>
                  <a:srgbClr val="CBD5E1"/>
                </a:solidFill>
              </a:rPr>
              <a:t>Zero database retention of processed user texts ensures complete GDPR, HIPAA, and SOC2 alignment.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EXECUTIVE CONCLUSION • STRATEGIC VALUE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Key Takeaways: Why AI Humanizer Sets the Industry Standard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42032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10512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Arial"/>
              </a:defRPr>
            </a:pPr>
            <a:r>
              <a:t>1. Absolute Stealth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240280"/>
            <a:ext cx="221284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99.5% Bypass Rate: </a:t>
            </a:r>
            <a:r>
              <a:rPr b="0">
                <a:solidFill>
                  <a:srgbClr val="CBD5E1"/>
                </a:solidFill>
              </a:rPr>
              <a:t>Eradicates 75+ AI clichés and elevates burstiness.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7/7 Detectors: </a:t>
            </a:r>
            <a:r>
              <a:rPr b="0">
                <a:solidFill>
                  <a:srgbClr val="CBD5E1"/>
                </a:solidFill>
              </a:rPr>
              <a:t>Turnitin, GPTZero, CopyLeaks, Originality, ZeroGPT, Winston, CrossPlag.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645920"/>
            <a:ext cx="2542032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8" y="1810512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2. Zero 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240280"/>
            <a:ext cx="221284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100% Entity Retention: </a:t>
            </a:r>
            <a:r>
              <a:rPr b="0">
                <a:solidFill>
                  <a:srgbClr val="CBD5E1"/>
                </a:solidFill>
              </a:rPr>
              <a:t>Dual-source NER locks numbers, dates, names, and tech terms.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NLI Mathematical Gate: </a:t>
            </a:r>
            <a:r>
              <a:rPr b="0">
                <a:solidFill>
                  <a:srgbClr val="CBD5E1"/>
                </a:solidFill>
              </a:rPr>
              <a:t>Guarantees semantic truth via cross-encoder entailment.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645920"/>
            <a:ext cx="2542032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1810512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3. Sub-20ms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240280"/>
            <a:ext cx="221284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Local Pattern Engine: </a:t>
            </a:r>
            <a:r>
              <a:rPr b="0">
                <a:solidFill>
                  <a:srgbClr val="CBD5E1"/>
                </a:solidFill>
              </a:rPr>
              <a:t>Instant processing without expensive external API latency.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Rewrite Resistance: </a:t>
            </a:r>
            <a:r>
              <a:rPr b="0">
                <a:solidFill>
                  <a:srgbClr val="CBD5E1"/>
                </a:solidFill>
              </a:rPr>
              <a:t>Skips already-human text to conserve compute.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8824" y="1645920"/>
            <a:ext cx="2542032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810512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4. Enterprise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3416" y="2240280"/>
            <a:ext cx="221284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Curved Dashboard: </a:t>
            </a:r>
            <a:r>
              <a:rPr b="0">
                <a:solidFill>
                  <a:srgbClr val="CBD5E1"/>
                </a:solidFill>
              </a:rPr>
              <a:t>Dual-pane diff inspector with 1-click multi-format export.</a:t>
            </a:r>
          </a:p>
          <a:p>
            <a:pPr>
              <a:spcAft>
                <a:spcPts val="1200"/>
              </a:spcAft>
              <a:defRPr sz="10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Vercel &amp; Docker: </a:t>
            </a:r>
            <a:r>
              <a:rPr b="0">
                <a:solidFill>
                  <a:srgbClr val="CBD5E1"/>
                </a:solidFill>
              </a:rPr>
              <a:t>Cloud-native, stateless, and privacy-first architecture.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698480" cy="6858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Ready for Immediate Demonstration • Run 'run.bat' or visit http://127.0.0.1:8000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